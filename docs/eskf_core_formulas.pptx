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40"/>
            <a:ext cx="12188952" cy="42793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047488"/>
            <a:ext cx="12188952" cy="18105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3154680" cy="7273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298448"/>
            <a:ext cx="813816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500" b="1">
                <a:solidFill>
                  <a:srgbClr val="FFFFFF"/>
                </a:solidFill>
                <a:latin typeface="Microsoft YaHei"/>
              </a:rPr>
              <a:t>ESKF 核心公式与卡尔曼滤波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31720"/>
            <a:ext cx="768096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FFFFF"/>
                </a:solidFill>
                <a:latin typeface="Microsoft YaHei"/>
              </a:rPr>
              <a:t>状态 · 误差状态 · 协方差 · 预测与更新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145536"/>
            <a:ext cx="1188720" cy="54864"/>
          </a:xfrm>
          <a:prstGeom prst="rect">
            <a:avLst/>
          </a:prstGeom>
          <a:solidFill>
            <a:srgbClr val="B79A70"/>
          </a:solidFill>
          <a:ln>
            <a:solidFill>
              <a:srgbClr val="B7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321808"/>
            <a:ext cx="658368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A3D62"/>
                </a:solidFill>
                <a:latin typeface="Microsoft YaHei"/>
              </a:rPr>
              <a:t>基于 KF-GINS 21 维误差状态模型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5216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26E78"/>
                </a:solidFill>
                <a:latin typeface="Microsoft YaHei"/>
              </a:rPr>
              <a:t>组会汇报｜组合导航原理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27080" cy="530352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378440" y="0"/>
            <a:ext cx="1810512" cy="530352"/>
          </a:xfrm>
          <a:prstGeom prst="parallelogram">
            <a:avLst/>
          </a:prstGeom>
          <a:solidFill>
            <a:srgbClr val="B79A70"/>
          </a:solidFill>
          <a:ln>
            <a:solidFill>
              <a:srgbClr val="B7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7432"/>
            <a:ext cx="9692640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内容导览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73152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510528"/>
            <a:ext cx="3200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26E78"/>
                </a:solidFill>
                <a:latin typeface="Microsoft YaHei"/>
              </a:rPr>
              <a:t>2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72" y="6190488"/>
            <a:ext cx="2194560" cy="50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841248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52C46"/>
                </a:solidFill>
                <a:latin typeface="Microsoft YaHei"/>
              </a:rPr>
              <a:t>一条主线理解 ESKF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40487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2404872" cy="109728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74519"/>
            <a:ext cx="65836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78BA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23744"/>
            <a:ext cx="199339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52C46"/>
                </a:solidFill>
                <a:latin typeface="Microsoft YaHei"/>
              </a:rPr>
              <a:t>状态与误差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46120"/>
            <a:ext cx="199339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“系统是什么”与“错了多少”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2788920"/>
            <a:ext cx="34747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B79A70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1600200"/>
            <a:ext cx="240487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1600200"/>
            <a:ext cx="2404872" cy="109728"/>
          </a:xfrm>
          <a:prstGeom prst="rect">
            <a:avLst/>
          </a:prstGeom>
          <a:solidFill>
            <a:srgbClr val="258A68"/>
          </a:solidFill>
          <a:ln>
            <a:solidFill>
              <a:srgbClr val="25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7" y="1874519"/>
            <a:ext cx="65836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258A68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7" y="2523744"/>
            <a:ext cx="199339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52C46"/>
                </a:solidFill>
                <a:latin typeface="Microsoft YaHei"/>
              </a:rPr>
              <a:t>协方差预测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7" y="3246120"/>
            <a:ext cx="199339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不确定性怎样随 IMU 演化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788920"/>
            <a:ext cx="34747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B79A70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1600200"/>
            <a:ext cx="240487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1600200"/>
            <a:ext cx="2404872" cy="109728"/>
          </a:xfrm>
          <a:prstGeom prst="rect">
            <a:avLst/>
          </a:prstGeom>
          <a:solidFill>
            <a:srgbClr val="E08435"/>
          </a:solidFill>
          <a:ln>
            <a:solidFill>
              <a:srgbClr val="E08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7" y="1874519"/>
            <a:ext cx="65836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08435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7" y="2523744"/>
            <a:ext cx="199339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52C46"/>
                </a:solidFill>
                <a:latin typeface="Microsoft YaHei"/>
              </a:rPr>
              <a:t>卡尔曼更新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7" y="3246120"/>
            <a:ext cx="199339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GNSS 如何修正误差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8" y="2788920"/>
            <a:ext cx="347472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B79A70"/>
                </a:solidFill>
                <a:latin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1600200"/>
            <a:ext cx="240487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1600200"/>
            <a:ext cx="2404872" cy="109728"/>
          </a:xfrm>
          <a:prstGeom prst="rect">
            <a:avLst/>
          </a:prstGeom>
          <a:solidFill>
            <a:srgbClr val="C94B50"/>
          </a:solidFill>
          <a:ln>
            <a:solidFill>
              <a:srgbClr val="C9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1874519"/>
            <a:ext cx="658368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C94B50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2523744"/>
            <a:ext cx="199339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52C46"/>
                </a:solidFill>
                <a:latin typeface="Microsoft YaHei"/>
              </a:rPr>
              <a:t>反馈与重置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246120"/>
            <a:ext cx="199339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误差注入名义状态，P 继续传递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25880" y="5148072"/>
            <a:ext cx="9509760" cy="65836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35607" y="5212080"/>
            <a:ext cx="9290304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0A3D62"/>
                </a:solidFill>
                <a:latin typeface="Cambria Math"/>
              </a:rPr>
              <a:t>IMU 预测  →  不确定性增长  →  GNSS 观测  →  误差修正  →  闭环反馈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27080" cy="530352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378440" y="0"/>
            <a:ext cx="1810512" cy="530352"/>
          </a:xfrm>
          <a:prstGeom prst="parallelogram">
            <a:avLst/>
          </a:prstGeom>
          <a:solidFill>
            <a:srgbClr val="B79A70"/>
          </a:solidFill>
          <a:ln>
            <a:solidFill>
              <a:srgbClr val="B7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7432"/>
            <a:ext cx="9692640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三个核心对象：x、δx 与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73152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510528"/>
            <a:ext cx="3200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26E78"/>
                </a:solidFill>
                <a:latin typeface="Microsoft YaHei"/>
              </a:rPr>
              <a:t>3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72" y="6190488"/>
            <a:ext cx="2194560" cy="505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960120"/>
            <a:ext cx="3401568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960120"/>
            <a:ext cx="3401568" cy="128016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61872"/>
            <a:ext cx="2926080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2C46"/>
                </a:solidFill>
                <a:latin typeface="Microsoft YaHei"/>
              </a:rPr>
              <a:t>名义状态  xₙₒₘ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01952"/>
            <a:ext cx="2926080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系统当前认为自己在哪里、如何运动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" y="2834640"/>
            <a:ext cx="2999232" cy="1060704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8648"/>
            <a:ext cx="2779776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78BA"/>
                </a:solidFill>
                <a:latin typeface="Cambria Math"/>
              </a:rPr>
              <a:t>xₙₒₘ = [ p, v, q, b_g, b_a, s_g, s_a ]ᵀ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4187952"/>
            <a:ext cx="2743200" cy="84124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42A30"/>
                </a:solidFill>
                <a:latin typeface="Microsoft YaHei"/>
              </a:rPr>
              <a:t>●  非线性物理积分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42A30"/>
                </a:solidFill>
                <a:latin typeface="Microsoft YaHei"/>
              </a:rPr>
              <a:t>●  用于最终导航输出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960120"/>
            <a:ext cx="3401568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960120"/>
            <a:ext cx="3401568" cy="128016"/>
          </a:xfrm>
          <a:prstGeom prst="rect">
            <a:avLst/>
          </a:prstGeom>
          <a:solidFill>
            <a:srgbClr val="E08435"/>
          </a:solidFill>
          <a:ln>
            <a:solidFill>
              <a:srgbClr val="E08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61872"/>
            <a:ext cx="2926080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2C46"/>
                </a:solidFill>
                <a:latin typeface="Microsoft YaHei"/>
              </a:rPr>
              <a:t>误差状态  δx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901952"/>
            <a:ext cx="2926080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名义状态距离真实状态还有多少误差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0288" y="2834640"/>
            <a:ext cx="2999232" cy="1060704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2898648"/>
            <a:ext cx="2779776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08435"/>
                </a:solidFill>
                <a:latin typeface="Cambria Math"/>
              </a:rPr>
              <a:t>δx = [ δr, δv, φ, δb_g, δb_a, δs_g, δs_a ]ᵀ ∈ ℝ²¹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187952"/>
            <a:ext cx="2743200" cy="84124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42A30"/>
                </a:solidFill>
                <a:latin typeface="Microsoft YaHei"/>
              </a:rPr>
              <a:t>●  小误差线性模型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42A30"/>
                </a:solidFill>
                <a:latin typeface="Microsoft YaHei"/>
              </a:rPr>
              <a:t>●  更新后反馈并清零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960120"/>
            <a:ext cx="3401568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960120"/>
            <a:ext cx="3401568" cy="128016"/>
          </a:xfrm>
          <a:prstGeom prst="rect">
            <a:avLst/>
          </a:prstGeom>
          <a:solidFill>
            <a:srgbClr val="258A68"/>
          </a:solidFill>
          <a:ln>
            <a:solidFill>
              <a:srgbClr val="25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261872"/>
            <a:ext cx="2926080" cy="521207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2C46"/>
                </a:solidFill>
                <a:latin typeface="Microsoft YaHei"/>
              </a:rPr>
              <a:t>协方差  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901952"/>
            <a:ext cx="2926080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对 21 维误差不确定程度及相关性的描述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85048" y="2834640"/>
            <a:ext cx="2999232" cy="1060704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94776" y="2898648"/>
            <a:ext cx="2779776" cy="9326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58A68"/>
                </a:solidFill>
                <a:latin typeface="Cambria Math"/>
              </a:rPr>
              <a:t>P = E[(δx−Eδx)(δx−Eδx)ᵀ] ∈ ℝ²¹ˣ²¹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4187952"/>
            <a:ext cx="2743200" cy="841248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42A30"/>
                </a:solidFill>
                <a:latin typeface="Microsoft YaHei"/>
              </a:rPr>
              <a:t>●  对角线：各状态方差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>
                <a:solidFill>
                  <a:srgbClr val="242A30"/>
                </a:solidFill>
                <a:latin typeface="Microsoft YaHei"/>
              </a:rPr>
              <a:t>●  非对角线：状态相关性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59552"/>
            <a:ext cx="1028700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A3D62"/>
                </a:solidFill>
                <a:latin typeface="Microsoft YaHei"/>
              </a:rPr>
              <a:t>核心关系：名义状态给出“中心值”，误差状态描述“偏差”，协方差描述“我们对偏差有多确定”。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27080" cy="530352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378440" y="0"/>
            <a:ext cx="1810512" cy="530352"/>
          </a:xfrm>
          <a:prstGeom prst="parallelogram">
            <a:avLst/>
          </a:prstGeom>
          <a:solidFill>
            <a:srgbClr val="B79A70"/>
          </a:solidFill>
          <a:ln>
            <a:solidFill>
              <a:srgbClr val="B7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7432"/>
            <a:ext cx="9692640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名义状态预测：IMU 驱动物理推演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73152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510528"/>
            <a:ext cx="3200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26E78"/>
                </a:solidFill>
                <a:latin typeface="Microsoft YaHei"/>
              </a:rPr>
              <a:t>4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72" y="6190488"/>
            <a:ext cx="2194560" cy="505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941832"/>
            <a:ext cx="10881360" cy="66751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005840"/>
            <a:ext cx="10661904" cy="5394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078BA"/>
                </a:solidFill>
                <a:latin typeface="Cambria Math"/>
              </a:rPr>
              <a:t>xₙₒₘ,ₖ⁻ = f(xₙₒₘ,ₖ₋₁⁺, uₖ)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901952"/>
            <a:ext cx="1051560" cy="822960"/>
          </a:xfrm>
          <a:prstGeom prst="roundRect">
            <a:avLst>
              <a:gd name="adj" fmla="val 8000"/>
            </a:avLst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20824"/>
            <a:ext cx="94183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姿态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1952" y="1901952"/>
            <a:ext cx="5715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65960"/>
            <a:ext cx="5495544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0078BA"/>
                </a:solidFill>
                <a:latin typeface="Cambria Math"/>
              </a:rPr>
              <a:t>qₖ⁻ = qₙ ⊗ qₖ₋₁⁺ ⊗ Δqₖ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1975104"/>
            <a:ext cx="33375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角增量积分，并补偿导航系旋转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3063240"/>
            <a:ext cx="1051560" cy="822960"/>
          </a:xfrm>
          <a:prstGeom prst="roundRect">
            <a:avLst>
              <a:gd name="adj" fmla="val 8000"/>
            </a:avLst>
          </a:prstGeom>
          <a:solidFill>
            <a:srgbClr val="258A68"/>
          </a:solidFill>
          <a:ln>
            <a:solidFill>
              <a:srgbClr val="25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182112"/>
            <a:ext cx="94183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速度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01952" y="3063240"/>
            <a:ext cx="5715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127248"/>
            <a:ext cx="5495544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258A68"/>
                </a:solidFill>
                <a:latin typeface="Cambria Math"/>
              </a:rPr>
              <a:t>v̇ⁿ = Cᵇₙ fᵇ + gⁿ − (2ωⁿᵢₑ + ωⁿₑₙ) × vⁿ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3136392"/>
            <a:ext cx="33375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比力、重力、科里奥利与运输项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4224528"/>
            <a:ext cx="1051560" cy="822960"/>
          </a:xfrm>
          <a:prstGeom prst="roundRect">
            <a:avLst>
              <a:gd name="adj" fmla="val 8000"/>
            </a:avLst>
          </a:prstGeom>
          <a:solidFill>
            <a:srgbClr val="E08435"/>
          </a:solidFill>
          <a:ln>
            <a:solidFill>
              <a:srgbClr val="E08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343400"/>
            <a:ext cx="94183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位置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01952" y="4224528"/>
            <a:ext cx="57150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288536"/>
            <a:ext cx="5495544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E08435"/>
                </a:solidFill>
                <a:latin typeface="Cambria Math"/>
              </a:rPr>
              <a:t>ṗ = Dᴿ⁻¹(p) vⁿ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4297680"/>
            <a:ext cx="33375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用 NED 速度更新纬度、经度和高程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469880" cy="530352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>
            <a:solidFill>
              <a:srgbClr val="EDD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41264"/>
            <a:ext cx="10058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8A6127"/>
                </a:solidFill>
                <a:latin typeface="Microsoft YaHei"/>
              </a:rPr>
              <a:t>KF-GINS 实际使用双子样圆锥/划桨补偿与中点积分；上式表达其最核心的物理意义。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27080" cy="530352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378440" y="0"/>
            <a:ext cx="1810512" cy="530352"/>
          </a:xfrm>
          <a:prstGeom prst="parallelogram">
            <a:avLst/>
          </a:prstGeom>
          <a:solidFill>
            <a:srgbClr val="B79A70"/>
          </a:solidFill>
          <a:ln>
            <a:solidFill>
              <a:srgbClr val="B7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7432"/>
            <a:ext cx="9692640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误差状态方程：把非线性问题局部线性化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73152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510528"/>
            <a:ext cx="3200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26E78"/>
                </a:solidFill>
                <a:latin typeface="Microsoft YaHei"/>
              </a:rPr>
              <a:t>5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72" y="6190488"/>
            <a:ext cx="2194560" cy="505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914400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FFF7EE"/>
          </a:solidFill>
          <a:ln>
            <a:solidFill>
              <a:srgbClr val="F0D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978408"/>
            <a:ext cx="10661904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08435"/>
                </a:solidFill>
                <a:latin typeface="Cambria Math"/>
              </a:rPr>
              <a:t>δẋ = F δx + G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20240"/>
            <a:ext cx="32918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52C46"/>
                </a:solidFill>
                <a:latin typeface="Microsoft YaHei"/>
              </a:rPr>
              <a:t>F：已有误差如何相互传播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23160"/>
            <a:ext cx="3246120" cy="199339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42A30"/>
                </a:solidFill>
                <a:latin typeface="Microsoft YaHei"/>
              </a:rPr>
              <a:t>●  位置误差 ← 速度误差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42A30"/>
                </a:solidFill>
                <a:latin typeface="Microsoft YaHei"/>
              </a:rPr>
              <a:t>●  速度误差 ← 姿态、加计零偏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42A30"/>
                </a:solidFill>
                <a:latin typeface="Microsoft YaHei"/>
              </a:rPr>
              <a:t>●  姿态误差 ← 陀螺零偏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42A30"/>
                </a:solidFill>
                <a:latin typeface="Microsoft YaHei"/>
              </a:rPr>
              <a:t>●  零偏/比例因子：一阶高斯–马尔可夫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920240"/>
            <a:ext cx="32461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52C46"/>
                </a:solidFill>
                <a:latin typeface="Microsoft YaHei"/>
              </a:rPr>
              <a:t>G w：新噪声如何进入系统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423160"/>
            <a:ext cx="3154680" cy="1993392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42A30"/>
                </a:solidFill>
                <a:latin typeface="Microsoft YaHei"/>
              </a:rPr>
              <a:t>●  加计白噪声进入速度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42A30"/>
                </a:solidFill>
                <a:latin typeface="Microsoft YaHei"/>
              </a:rPr>
              <a:t>●  陀螺白噪声进入姿态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42A30"/>
                </a:solidFill>
                <a:latin typeface="Microsoft YaHei"/>
              </a:rPr>
              <a:t>●  随机驱动进入零偏与比例因子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42A30"/>
                </a:solidFill>
                <a:latin typeface="Microsoft YaHei"/>
              </a:rPr>
              <a:t>●  噪声持续制造新不确定性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1865376"/>
            <a:ext cx="3429000" cy="278892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103120"/>
            <a:ext cx="30175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A3D62"/>
                </a:solidFill>
                <a:latin typeface="Microsoft YaHei"/>
              </a:rPr>
              <a:t>典型误差传播链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743200"/>
            <a:ext cx="288036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E08435"/>
                </a:solidFill>
                <a:latin typeface="Microsoft YaHei"/>
              </a:rPr>
              <a:t>陀螺误差</a:t>
            </a:r>
            <a:br/>
            <a:r>
              <a:rPr sz="1900" b="1">
                <a:solidFill>
                  <a:srgbClr val="E08435"/>
                </a:solidFill>
                <a:latin typeface="Microsoft YaHei"/>
              </a:rPr>
              <a:t>↓</a:t>
            </a:r>
            <a:br/>
            <a:r>
              <a:rPr sz="1900" b="1">
                <a:solidFill>
                  <a:srgbClr val="E08435"/>
                </a:solidFill>
                <a:latin typeface="Microsoft YaHei"/>
              </a:rPr>
              <a:t>姿态误差 → 速度误差 → 位置误差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25296" y="5001768"/>
            <a:ext cx="9710928" cy="68580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5024" y="5065776"/>
            <a:ext cx="9491472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0A3D62"/>
                </a:solidFill>
                <a:latin typeface="Cambria Math"/>
              </a:rPr>
              <a:t>Φₖ = exp(FₖΔt) ≈ I + FₖΔt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27080" cy="530352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378440" y="0"/>
            <a:ext cx="1810512" cy="530352"/>
          </a:xfrm>
          <a:prstGeom prst="parallelogram">
            <a:avLst/>
          </a:prstGeom>
          <a:solidFill>
            <a:srgbClr val="B79A70"/>
          </a:solidFill>
          <a:ln>
            <a:solidFill>
              <a:srgbClr val="B7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7432"/>
            <a:ext cx="9692640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协方差预测：不确定性随时间演化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73152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COV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510528"/>
            <a:ext cx="3200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26E78"/>
                </a:solidFill>
                <a:latin typeface="Microsoft YaHei"/>
              </a:rPr>
              <a:t>6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72" y="6190488"/>
            <a:ext cx="2194560" cy="505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941832"/>
            <a:ext cx="10771632" cy="804672"/>
          </a:xfrm>
          <a:prstGeom prst="roundRect">
            <a:avLst>
              <a:gd name="adj" fmla="val 8000"/>
            </a:avLst>
          </a:prstGeom>
          <a:solidFill>
            <a:srgbClr val="EFF9F5"/>
          </a:solidFill>
          <a:ln>
            <a:solidFill>
              <a:srgbClr val="BF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05840"/>
            <a:ext cx="10552176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58A68"/>
                </a:solidFill>
                <a:latin typeface="Cambria Math"/>
              </a:rPr>
              <a:t>Pₖ⁻ = Φₖ Pₖ₋₁⁺ Φₖᵀ + Q_d,ₖ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057400"/>
            <a:ext cx="5047488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057400"/>
            <a:ext cx="91440" cy="2395728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04288"/>
            <a:ext cx="43891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52C46"/>
                </a:solidFill>
                <a:latin typeface="Microsoft YaHei"/>
              </a:rPr>
              <a:t>①  ΦPΦᵀ：已有不确定性的传播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98648"/>
            <a:ext cx="4343400" cy="10424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26E78"/>
                </a:solidFill>
                <a:latin typeface="Microsoft YaHei"/>
              </a:rPr>
              <a:t>上一时刻的误差相关性经动力学传到当前时刻。</a:t>
            </a:r>
            <a:br/>
            <a:r>
              <a:rPr sz="1600" b="0">
                <a:solidFill>
                  <a:srgbClr val="626E78"/>
                </a:solidFill>
                <a:latin typeface="Microsoft YaHei"/>
              </a:rPr>
              <a:t>即使初始位置很准，姿态和零偏的不确定性也会逐步传递到速度与位置。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2057400"/>
            <a:ext cx="5047488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8192" y="2057400"/>
            <a:ext cx="91440" cy="2395728"/>
          </a:xfrm>
          <a:prstGeom prst="rect">
            <a:avLst/>
          </a:prstGeom>
          <a:solidFill>
            <a:srgbClr val="E08435"/>
          </a:solidFill>
          <a:ln>
            <a:solidFill>
              <a:srgbClr val="E08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304288"/>
            <a:ext cx="43891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52C46"/>
                </a:solidFill>
                <a:latin typeface="Microsoft YaHei"/>
              </a:rPr>
              <a:t>②  Q_d：本周期新注入的噪声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898648"/>
            <a:ext cx="4343400" cy="10424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26E78"/>
                </a:solidFill>
                <a:latin typeface="Microsoft YaHei"/>
              </a:rPr>
              <a:t>IMU 白噪声、零偏和比例因子随机漂移不断增加系统不确定性。</a:t>
            </a:r>
            <a:br/>
            <a:r>
              <a:rPr sz="1600" b="0">
                <a:solidFill>
                  <a:srgbClr val="626E78"/>
                </a:solidFill>
                <a:latin typeface="Microsoft YaHei"/>
              </a:rPr>
              <a:t>基本近似：Q_d ≈ G Q_c Gᵀ Δt。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" y="4864608"/>
            <a:ext cx="4526280" cy="68580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4928616"/>
            <a:ext cx="4306824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258A68"/>
                </a:solidFill>
                <a:latin typeface="Cambria Math"/>
              </a:rPr>
              <a:t>σᵢ = √Pᵢᵢ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864608"/>
            <a:ext cx="4526280" cy="68580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4928616"/>
            <a:ext cx="4306824" cy="5577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258A68"/>
                </a:solidFill>
                <a:latin typeface="Cambria Math"/>
              </a:rPr>
              <a:t>Pᵢⱼ：状态 i 与 j 的相关性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715000"/>
            <a:ext cx="98298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4B50"/>
                </a:solidFill>
                <a:latin typeface="Microsoft YaHei"/>
              </a:rPr>
              <a:t>关键：即使误差状态均值 δx = 0，P 仍可能持续增大——“不知道错多少”本身就是重要状态。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27080" cy="530352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378440" y="0"/>
            <a:ext cx="1810512" cy="530352"/>
          </a:xfrm>
          <a:prstGeom prst="parallelogram">
            <a:avLst/>
          </a:prstGeom>
          <a:solidFill>
            <a:srgbClr val="B79A70"/>
          </a:solidFill>
          <a:ln>
            <a:solidFill>
              <a:srgbClr val="B7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7432"/>
            <a:ext cx="9692640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GNSS 观测：用外部信息看见惯导误差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73152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510528"/>
            <a:ext cx="3200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26E78"/>
                </a:solidFill>
                <a:latin typeface="Microsoft YaHei"/>
              </a:rPr>
              <a:t>7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72" y="6190488"/>
            <a:ext cx="2194560" cy="50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" y="914400"/>
            <a:ext cx="47548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2C46"/>
                </a:solidFill>
                <a:latin typeface="Microsoft YaHei"/>
              </a:rPr>
              <a:t>通用线性化观测模型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4846320" cy="82296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481328"/>
            <a:ext cx="4626864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>
                <a:solidFill>
                  <a:srgbClr val="E08435"/>
                </a:solidFill>
                <a:latin typeface="Cambria Math"/>
              </a:rPr>
              <a:t>zₖ = Hₖ δxₖ + vₖ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87168"/>
            <a:ext cx="452628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26E78"/>
                </a:solidFill>
                <a:latin typeface="Microsoft YaHei"/>
              </a:rPr>
              <a:t>H 把 21 维误差投影到观测空间；</a:t>
            </a:r>
            <a:br/>
            <a:r>
              <a:rPr sz="1700" b="0">
                <a:solidFill>
                  <a:srgbClr val="626E78"/>
                </a:solidFill>
                <a:latin typeface="Microsoft YaHei"/>
              </a:rPr>
              <a:t>v 是 GNSS 观测噪声，R = E[vvᵀ]。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914400"/>
            <a:ext cx="4983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52C46"/>
                </a:solidFill>
                <a:latin typeface="Microsoft YaHei"/>
              </a:rPr>
              <a:t>KF-GINS 的位置残差与杆臂补偿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71032" y="141732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81328"/>
            <a:ext cx="5221224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E08435"/>
                </a:solidFill>
                <a:latin typeface="Cambria Math"/>
              </a:rPr>
              <a:t>zₖ = D_R ( p̂_ant − p_GNSS 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71032" y="2487168"/>
            <a:ext cx="5440680" cy="74980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551176"/>
            <a:ext cx="5221224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A3D62"/>
                </a:solidFill>
                <a:latin typeface="Cambria Math"/>
              </a:rPr>
              <a:t>p̂_ant = p̂_IMU + D_R⁻¹ Cᵇₙ lᵇ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822191"/>
            <a:ext cx="10652760" cy="150876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41648"/>
            <a:ext cx="2194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A3D62"/>
                </a:solidFill>
                <a:latin typeface="Microsoft YaHei"/>
              </a:rPr>
              <a:t>观测矩阵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95344"/>
            <a:ext cx="809244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0A3D62"/>
                </a:solidFill>
                <a:latin typeface="Cambria Math"/>
              </a:rPr>
              <a:t>H = [ I₃   0   [Cᵇₙlᵇ×]   0   0   0   0 ]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773168"/>
            <a:ext cx="9893808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78BA"/>
                </a:solidFill>
                <a:latin typeface="Microsoft YaHei"/>
              </a:rPr>
              <a:t>GNSS 虽然直接观测位置，却能借助 P 的交叉协方差间接修正速度、姿态和 IMU 参数。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5623560"/>
            <a:ext cx="9784080" cy="493776"/>
          </a:xfrm>
          <a:prstGeom prst="roundRect">
            <a:avLst>
              <a:gd name="adj" fmla="val 8000"/>
            </a:avLst>
          </a:prstGeom>
          <a:solidFill>
            <a:srgbClr val="FFF1F1"/>
          </a:solidFill>
          <a:ln>
            <a:solidFill>
              <a:srgbClr val="ED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5660136"/>
            <a:ext cx="932688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94B50"/>
                </a:solidFill>
                <a:latin typeface="Microsoft YaHei"/>
              </a:rPr>
              <a:t>符号提醒：该代码采用“惯导预测 − GNSS 观测”，因此后续位置和速度反馈使用减法。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27080" cy="530352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378440" y="0"/>
            <a:ext cx="1810512" cy="530352"/>
          </a:xfrm>
          <a:prstGeom prst="parallelogram">
            <a:avLst/>
          </a:prstGeom>
          <a:solidFill>
            <a:srgbClr val="B79A70"/>
          </a:solidFill>
          <a:ln>
            <a:solidFill>
              <a:srgbClr val="B7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7432"/>
            <a:ext cx="9692640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卡尔曼更新：动态分配“相信谁”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73152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510528"/>
            <a:ext cx="3200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26E78"/>
                </a:solidFill>
                <a:latin typeface="Microsoft YaHei"/>
              </a:rPr>
              <a:t>8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72" y="6190488"/>
            <a:ext cx="2194560" cy="505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914400"/>
            <a:ext cx="5257800" cy="75895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978408"/>
            <a:ext cx="5038344" cy="6309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0A3D62"/>
                </a:solidFill>
                <a:latin typeface="Cambria Math"/>
              </a:rPr>
              <a:t>Sₖ = Hₖ Pₖ⁻ Hₖᵀ + Rₖ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914400"/>
            <a:ext cx="5257800" cy="75895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978408"/>
            <a:ext cx="5038344" cy="6309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0078BA"/>
                </a:solidFill>
                <a:latin typeface="Cambria Math"/>
              </a:rPr>
              <a:t>Kₖ = Pₖ⁻Hₖᵀ Sₖ⁻¹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38528"/>
            <a:ext cx="4983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52C46"/>
                </a:solidFill>
                <a:latin typeface="Microsoft YaHei"/>
              </a:rPr>
              <a:t>误差状态更新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2414016"/>
            <a:ext cx="5257800" cy="82296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78024"/>
            <a:ext cx="5038344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08435"/>
                </a:solidFill>
                <a:latin typeface="Cambria Math"/>
              </a:rPr>
              <a:t>δxₖ⁺ = δxₖ⁻ + Kₖ(zₖ − Hₖδxₖ⁻)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38528"/>
            <a:ext cx="4983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52C46"/>
                </a:solidFill>
                <a:latin typeface="Microsoft YaHei"/>
              </a:rPr>
              <a:t>协方差更新（Joseph 形式）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414016"/>
            <a:ext cx="5257800" cy="82296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478024"/>
            <a:ext cx="5038344" cy="6949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58A68"/>
                </a:solidFill>
                <a:latin typeface="Cambria Math"/>
              </a:rPr>
              <a:t>Pₖ⁺ = (I−KH)Pₖ⁻(I−KH)ᵀ + KRKᵀ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721608"/>
            <a:ext cx="3346704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07408" y="3721608"/>
            <a:ext cx="3346704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65008" y="3721608"/>
            <a:ext cx="3346704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950208"/>
            <a:ext cx="29260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78BA"/>
                </a:solidFill>
                <a:latin typeface="Microsoft YaHei"/>
              </a:rPr>
              <a:t>P⁻ 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416552"/>
            <a:ext cx="29260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惯导不确定 → K 增大</a:t>
            </a:r>
            <a:br/>
            <a:r>
              <a:rPr sz="1500" b="0">
                <a:solidFill>
                  <a:srgbClr val="626E78"/>
                </a:solidFill>
                <a:latin typeface="Microsoft YaHei"/>
              </a:rPr>
              <a:t>更多相信 GNSS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950208"/>
            <a:ext cx="29260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E08435"/>
                </a:solidFill>
                <a:latin typeface="Microsoft YaHei"/>
              </a:rPr>
              <a:t>R 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416552"/>
            <a:ext cx="29260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GNSS 噪声大 → K 减小</a:t>
            </a:r>
            <a:br/>
            <a:r>
              <a:rPr sz="1500" b="0">
                <a:solidFill>
                  <a:srgbClr val="626E78"/>
                </a:solidFill>
                <a:latin typeface="Microsoft YaHei"/>
              </a:rPr>
              <a:t>更多相信惯导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950208"/>
            <a:ext cx="29260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58A68"/>
                </a:solidFill>
                <a:latin typeface="Microsoft YaHei"/>
              </a:rPr>
              <a:t>P 的非对角项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416552"/>
            <a:ext cx="29260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把位置观测传递给</a:t>
            </a:r>
            <a:br/>
            <a:r>
              <a:rPr sz="1500" b="0">
                <a:solidFill>
                  <a:srgbClr val="626E78"/>
                </a:solidFill>
                <a:latin typeface="Microsoft YaHei"/>
              </a:rPr>
              <a:t>速度、姿态和零偏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44368" y="5532120"/>
            <a:ext cx="6309360" cy="56692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54096" y="5596128"/>
            <a:ext cx="6089904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0A3D62"/>
                </a:solidFill>
                <a:latin typeface="Cambria Math"/>
              </a:rPr>
              <a:t>一维直觉：K = P⁻ / (P⁻ + 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27080" cy="530352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378440" y="0"/>
            <a:ext cx="1810512" cy="530352"/>
          </a:xfrm>
          <a:prstGeom prst="parallelogram">
            <a:avLst/>
          </a:prstGeom>
          <a:solidFill>
            <a:srgbClr val="B79A70"/>
          </a:solidFill>
          <a:ln>
            <a:solidFill>
              <a:srgbClr val="B7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7432"/>
            <a:ext cx="9692640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闭环反馈：修正名义状态并重置误差中心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73152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510528"/>
            <a:ext cx="3200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26E78"/>
                </a:solidFill>
                <a:latin typeface="Microsoft YaHei"/>
              </a:rPr>
              <a:t>9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72" y="6190488"/>
            <a:ext cx="2194560" cy="505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941832"/>
            <a:ext cx="1508760" cy="713232"/>
          </a:xfrm>
          <a:prstGeom prst="roundRect">
            <a:avLst>
              <a:gd name="adj" fmla="val 8000"/>
            </a:avLst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33272"/>
            <a:ext cx="1371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941832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1005840"/>
            <a:ext cx="5769864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78BA"/>
                </a:solidFill>
                <a:latin typeface="Cambria Math"/>
              </a:rPr>
              <a:t>p⁺ = p⁻ − D_R⁻¹ δr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1005840"/>
            <a:ext cx="25146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26E78"/>
                </a:solidFill>
                <a:latin typeface="Microsoft YaHei"/>
              </a:rPr>
              <a:t>NED 米制误差转换为经纬高修正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901952"/>
            <a:ext cx="1508760" cy="713232"/>
          </a:xfrm>
          <a:prstGeom prst="roundRect">
            <a:avLst>
              <a:gd name="adj" fmla="val 8000"/>
            </a:avLst>
          </a:prstGeom>
          <a:solidFill>
            <a:srgbClr val="258A68"/>
          </a:solidFill>
          <a:ln>
            <a:solidFill>
              <a:srgbClr val="25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93392"/>
            <a:ext cx="1371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速度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1901952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32888" y="1965960"/>
            <a:ext cx="5769864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58A68"/>
                </a:solidFill>
                <a:latin typeface="Cambria Math"/>
              </a:rPr>
              <a:t>v⁺ = v⁻ − δv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1965960"/>
            <a:ext cx="25146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26E78"/>
                </a:solidFill>
                <a:latin typeface="Microsoft YaHei"/>
              </a:rPr>
              <a:t>代码残差约定决定减号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862072"/>
            <a:ext cx="1508760" cy="713232"/>
          </a:xfrm>
          <a:prstGeom prst="roundRect">
            <a:avLst>
              <a:gd name="adj" fmla="val 8000"/>
            </a:avLst>
          </a:prstGeom>
          <a:solidFill>
            <a:srgbClr val="E08435"/>
          </a:solidFill>
          <a:ln>
            <a:solidFill>
              <a:srgbClr val="E08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53512"/>
            <a:ext cx="1371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姿态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2862072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32888" y="2926079"/>
            <a:ext cx="5769864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08435"/>
                </a:solidFill>
                <a:latin typeface="Cambria Math"/>
              </a:rPr>
              <a:t>q⁺ = δq(φ) ⊗ q⁻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2926079"/>
            <a:ext cx="25146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26E78"/>
                </a:solidFill>
                <a:latin typeface="Microsoft YaHei"/>
              </a:rPr>
              <a:t>小旋转四元数左乘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822192"/>
            <a:ext cx="1508760" cy="713232"/>
          </a:xfrm>
          <a:prstGeom prst="roundRect">
            <a:avLst>
              <a:gd name="adj" fmla="val 8000"/>
            </a:avLst>
          </a:prstGeom>
          <a:solidFill>
            <a:srgbClr val="C94B50"/>
          </a:solidFill>
          <a:ln>
            <a:solidFill>
              <a:srgbClr val="C9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13632"/>
            <a:ext cx="1371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IMU 参数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3160" y="3822192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32888" y="3886200"/>
            <a:ext cx="5769864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94B50"/>
                </a:solidFill>
                <a:latin typeface="Cambria Math"/>
              </a:rPr>
              <a:t>b⁺ = b⁻ + δb，s⁺ = s⁻ + δs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3886200"/>
            <a:ext cx="25146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26E78"/>
                </a:solidFill>
                <a:latin typeface="Microsoft YaHei"/>
              </a:rPr>
              <a:t>更新零偏和比例因子估计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5001768" cy="1005840"/>
          </a:xfrm>
          <a:prstGeom prst="roundRect">
            <a:avLst>
              <a:gd name="adj" fmla="val 8000"/>
            </a:avLst>
          </a:prstGeom>
          <a:solidFill>
            <a:srgbClr val="FFF4F4"/>
          </a:solidFill>
          <a:ln>
            <a:solidFill>
              <a:srgbClr val="ED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111496"/>
            <a:ext cx="46177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C94B50"/>
                </a:solidFill>
                <a:latin typeface="Microsoft YaHei"/>
              </a:rPr>
              <a:t>误差状态清零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486400"/>
            <a:ext cx="4617720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δx⁺ ← 0：修正量已注入新的名义状态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4956048"/>
            <a:ext cx="5001768" cy="1005840"/>
          </a:xfrm>
          <a:prstGeom prst="roundRect">
            <a:avLst>
              <a:gd name="adj" fmla="val 8000"/>
            </a:avLst>
          </a:prstGeom>
          <a:solidFill>
            <a:srgbClr val="EFF9F5"/>
          </a:solidFill>
          <a:ln>
            <a:solidFill>
              <a:srgbClr val="BF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5111496"/>
            <a:ext cx="461772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58A68"/>
                </a:solidFill>
                <a:latin typeface="Microsoft YaHei"/>
              </a:rPr>
              <a:t>协方差必须保留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5486400"/>
            <a:ext cx="4617720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P⁺ ≠ 0：剩余不确定性进入下一轮预测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27080" cy="530352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10378440" y="0"/>
            <a:ext cx="1810512" cy="530352"/>
          </a:xfrm>
          <a:prstGeom prst="parallelogram">
            <a:avLst/>
          </a:prstGeom>
          <a:solidFill>
            <a:srgbClr val="B79A70"/>
          </a:solidFill>
          <a:ln>
            <a:solidFill>
              <a:srgbClr val="B7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27432"/>
            <a:ext cx="9692640" cy="4480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ESKF 完整闭环：最核心的公式链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16768" y="73152"/>
            <a:ext cx="11430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31168" y="6510528"/>
            <a:ext cx="32004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26E78"/>
                </a:solidFill>
                <a:latin typeface="Microsoft YaHei"/>
              </a:rPr>
              <a:t>10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72" y="6190488"/>
            <a:ext cx="2194560" cy="505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5488" y="1078992"/>
            <a:ext cx="25146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1078992"/>
            <a:ext cx="2514600" cy="128016"/>
          </a:xfrm>
          <a:prstGeom prst="rect">
            <a:avLst/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08176"/>
            <a:ext cx="50292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1417320"/>
            <a:ext cx="1572768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2C46"/>
                </a:solidFill>
                <a:latin typeface="Microsoft YaHei"/>
              </a:rPr>
              <a:t>名义预测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240280"/>
            <a:ext cx="2148840" cy="135331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04288"/>
            <a:ext cx="1929384" cy="122529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78BA"/>
                </a:solidFill>
                <a:latin typeface="Cambria Math"/>
              </a:rPr>
              <a:t>x⁻ = f(x⁺,u)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199339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IMU 非线性积分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788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B79A70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078992"/>
            <a:ext cx="25146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1078992"/>
            <a:ext cx="2514600" cy="128016"/>
          </a:xfrm>
          <a:prstGeom prst="rect">
            <a:avLst/>
          </a:prstGeom>
          <a:solidFill>
            <a:srgbClr val="258A68"/>
          </a:solidFill>
          <a:ln>
            <a:solidFill>
              <a:srgbClr val="25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47872" y="138988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258A68"/>
          </a:solidFill>
          <a:ln>
            <a:solidFill>
              <a:srgbClr val="25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1408176"/>
            <a:ext cx="50292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8" y="1417320"/>
            <a:ext cx="1572768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2C46"/>
                </a:solidFill>
                <a:latin typeface="Microsoft YaHei"/>
              </a:rPr>
              <a:t>误差/协方差预测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2240280"/>
            <a:ext cx="2148840" cy="135331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5888" y="2304288"/>
            <a:ext cx="1929384" cy="122529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58A68"/>
                </a:solidFill>
                <a:latin typeface="Cambria Math"/>
              </a:rPr>
              <a:t>δx⁻ = Φδx⁺</a:t>
            </a:r>
            <a:br/>
            <a:r>
              <a:rPr sz="1600" b="1">
                <a:solidFill>
                  <a:srgbClr val="258A68"/>
                </a:solidFill>
                <a:latin typeface="Cambria Math"/>
              </a:rPr>
              <a:t>P⁻ = ΦP⁺Φᵀ+Q_d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977639"/>
            <a:ext cx="199339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不确定性增长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7024" y="2788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B79A70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2" y="1078992"/>
            <a:ext cx="25146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91072" y="1078992"/>
            <a:ext cx="2514600" cy="128016"/>
          </a:xfrm>
          <a:prstGeom prst="rect">
            <a:avLst/>
          </a:prstGeom>
          <a:solidFill>
            <a:srgbClr val="E08435"/>
          </a:solidFill>
          <a:ln>
            <a:solidFill>
              <a:srgbClr val="E08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38988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E08435"/>
          </a:solidFill>
          <a:ln>
            <a:solidFill>
              <a:srgbClr val="E08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408176"/>
            <a:ext cx="50292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417320"/>
            <a:ext cx="1572768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2C46"/>
                </a:solidFill>
                <a:latin typeface="Microsoft YaHei"/>
              </a:rPr>
              <a:t>GNSS 更新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2240280"/>
            <a:ext cx="2148840" cy="135331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304288"/>
            <a:ext cx="1929384" cy="122529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08435"/>
                </a:solidFill>
                <a:latin typeface="Cambria Math"/>
              </a:rPr>
              <a:t>K = P⁻Hᵀ(HP⁻Hᵀ+R)⁻¹</a:t>
            </a:r>
            <a:br/>
            <a:r>
              <a:rPr sz="1600" b="1">
                <a:solidFill>
                  <a:srgbClr val="E08435"/>
                </a:solidFill>
                <a:latin typeface="Cambria Math"/>
              </a:rPr>
              <a:t>δx⁺ = δx⁻+K(z−Hδx⁻)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3977639"/>
            <a:ext cx="199339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估计误差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14816" y="2788920"/>
            <a:ext cx="3840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B79A70"/>
                </a:solidFill>
                <a:latin typeface="Microsoft YaHe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98864" y="1078992"/>
            <a:ext cx="25146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98864" y="1078992"/>
            <a:ext cx="2514600" cy="128016"/>
          </a:xfrm>
          <a:prstGeom prst="rect">
            <a:avLst/>
          </a:prstGeom>
          <a:solidFill>
            <a:srgbClr val="C94B50"/>
          </a:solidFill>
          <a:ln>
            <a:solidFill>
              <a:srgbClr val="C9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63456" y="138988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C94B50"/>
          </a:solidFill>
          <a:ln>
            <a:solidFill>
              <a:srgbClr val="C9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63456" y="1408176"/>
            <a:ext cx="50292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8672" y="1417320"/>
            <a:ext cx="1572768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52C46"/>
                </a:solidFill>
                <a:latin typeface="Microsoft YaHei"/>
              </a:rPr>
              <a:t>反馈重置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81744" y="2240280"/>
            <a:ext cx="2148840" cy="135331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91472" y="2304288"/>
            <a:ext cx="1929384" cy="122529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4B50"/>
                </a:solidFill>
                <a:latin typeface="Cambria Math"/>
              </a:rPr>
              <a:t>x⁺ = x⁻ ⊞ δx⁺</a:t>
            </a:r>
            <a:br/>
            <a:r>
              <a:rPr sz="1600" b="1">
                <a:solidFill>
                  <a:srgbClr val="C94B50"/>
                </a:solidFill>
                <a:latin typeface="Cambria Math"/>
              </a:rPr>
              <a:t>δx ← 0，P 保留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54896" y="3977639"/>
            <a:ext cx="199339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26E78"/>
                </a:solidFill>
                <a:latin typeface="Microsoft YaHei"/>
              </a:rPr>
              <a:t>闭环校正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53312" y="5559552"/>
            <a:ext cx="9464040" cy="56692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3040" y="5623560"/>
            <a:ext cx="9244584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A3D62"/>
                </a:solidFill>
                <a:latin typeface="Cambria Math"/>
              </a:rPr>
              <a:t>预测让 P 膨胀；观测让 P 收缩；反馈让名义状态回到更准确的线性化中心。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28600"/>
            <a:ext cx="2926080" cy="674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85800"/>
            <a:ext cx="56692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52C46"/>
                </a:solidFill>
                <a:latin typeface="Microsoft YaHei"/>
              </a:rPr>
              <a:t>核心结论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1143000" cy="64008"/>
          </a:xfrm>
          <a:prstGeom prst="rect">
            <a:avLst/>
          </a:prstGeom>
          <a:solidFill>
            <a:srgbClr val="B79A70"/>
          </a:solidFill>
          <a:ln>
            <a:solidFill>
              <a:srgbClr val="B79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1874519" cy="566928"/>
          </a:xfrm>
          <a:prstGeom prst="roundRect">
            <a:avLst>
              <a:gd name="adj" fmla="val 8000"/>
            </a:avLst>
          </a:prstGeom>
          <a:solidFill>
            <a:srgbClr val="0078BA"/>
          </a:solidFill>
          <a:ln>
            <a:solidFill>
              <a:srgbClr val="007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39"/>
            <a:ext cx="1737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名义状态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901951"/>
            <a:ext cx="800100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42A30"/>
                </a:solidFill>
                <a:latin typeface="Microsoft YaHei"/>
              </a:rPr>
              <a:t>走物理：IMU 非线性积分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660903"/>
            <a:ext cx="1874519" cy="566928"/>
          </a:xfrm>
          <a:prstGeom prst="roundRect">
            <a:avLst>
              <a:gd name="adj" fmla="val 8000"/>
            </a:avLst>
          </a:prstGeom>
          <a:solidFill>
            <a:srgbClr val="E08435"/>
          </a:solidFill>
          <a:ln>
            <a:solidFill>
              <a:srgbClr val="E08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706623"/>
            <a:ext cx="1737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误差状态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688335"/>
            <a:ext cx="800100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42A30"/>
                </a:solidFill>
                <a:latin typeface="Microsoft YaHei"/>
              </a:rPr>
              <a:t>走数学：线性化误差传播与修正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447287"/>
            <a:ext cx="1874519" cy="566928"/>
          </a:xfrm>
          <a:prstGeom prst="roundRect">
            <a:avLst>
              <a:gd name="adj" fmla="val 8000"/>
            </a:avLst>
          </a:prstGeom>
          <a:solidFill>
            <a:srgbClr val="258A68"/>
          </a:solidFill>
          <a:ln>
            <a:solidFill>
              <a:srgbClr val="25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93007"/>
            <a:ext cx="1737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协方差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474719"/>
            <a:ext cx="800100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42A30"/>
                </a:solidFill>
                <a:latin typeface="Microsoft YaHei"/>
              </a:rPr>
              <a:t>走统计：预测膨胀，观测收缩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33672"/>
            <a:ext cx="1874519" cy="566928"/>
          </a:xfrm>
          <a:prstGeom prst="roundRect">
            <a:avLst>
              <a:gd name="adj" fmla="val 8000"/>
            </a:avLst>
          </a:prstGeom>
          <a:solidFill>
            <a:srgbClr val="0A3D62"/>
          </a:solidFill>
          <a:ln>
            <a:solidFill>
              <a:srgbClr val="0A3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79392"/>
            <a:ext cx="173736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卡尔曼增益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261104"/>
            <a:ext cx="800100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42A30"/>
                </a:solidFill>
                <a:latin typeface="Microsoft YaHei"/>
              </a:rPr>
              <a:t>看 P 与 R：动态分配惯导和 GNSS 的信任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5330952"/>
            <a:ext cx="9692640" cy="70408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solidFill>
              <a:srgbClr val="D9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5394960"/>
            <a:ext cx="9473184" cy="5760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0078BA"/>
                </a:solidFill>
                <a:latin typeface="Cambria Math"/>
              </a:rPr>
              <a:t>IMU 负责“往前走”，GNSS 负责“拉回来”，P 与 K 决定“拉多少”。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81928"/>
            <a:ext cx="10881360" cy="338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626E78"/>
                </a:solidFill>
                <a:latin typeface="Arial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